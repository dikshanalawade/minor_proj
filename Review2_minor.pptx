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2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hwbyBO+Ar785lhW33zEzu4Ry3q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82D08AB-6973-4B40-873B-D6619E62269E}">
  <a:tblStyle styleId="{382D08AB-6973-4B40-873B-D6619E62269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 b="off" i="off"/>
      <a:tcStyle>
        <a:tcBdr/>
        <a:fill>
          <a:solidFill>
            <a:srgbClr val="D0DEEF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0DEEF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00"/>
      </p:cViewPr>
      <p:guideLst>
        <p:guide orient="horz" pos="212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b12293af1_0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g31b12293af1_0_30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g31b12293af1_0_30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1b12293af1_0_3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g31b12293af1_0_3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3" name="Google Shape;113;g31b12293af1_0_3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d63429188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2d634291885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g2d634291885_0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d634291885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2d634291885_0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2d634291885_0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Google Shape;30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Google Shape;36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Google Shape;3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Google Shape;43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Google Shape;44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Google Shape;45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Google Shape;4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" name="Google Shape;56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Google Shape;57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Google Shape;5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" name="Google Shape;63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Google Shape;6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Google Shape;71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Google Shape;7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3" name="Google Shape;8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 descr="C:\Users\EC\Desktop\cropped-cddfv-1024x112.webp"/>
          <p:cNvSpPr/>
          <p:nvPr/>
        </p:nvSpPr>
        <p:spPr>
          <a:xfrm>
            <a:off x="1612900" y="1673224"/>
            <a:ext cx="44831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 descr="C:\Users\EC\Desktop\cropped-cddfv-1024x112.webp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 descr="C:\Users\EC\Desktop\cropped-cddfv-1024x112.webp"/>
          <p:cNvSpPr/>
          <p:nvPr/>
        </p:nvSpPr>
        <p:spPr>
          <a:xfrm>
            <a:off x="307975" y="7937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3633" y="136525"/>
            <a:ext cx="9753600" cy="106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4743939" y="5530361"/>
            <a:ext cx="243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Vijay Rayar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Dept. of ECE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078519" y="1458138"/>
            <a:ext cx="766382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Electronics and Communication Engineering 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2536800" y="2529473"/>
            <a:ext cx="71184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Design and development of ECU system using CAN bus protocol for automotive applications</a:t>
            </a:r>
            <a:endParaRPr lang="en-US" sz="20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3625850" y="2069083"/>
            <a:ext cx="42989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01" name="Google Shape;101;p1"/>
          <p:cNvGraphicFramePr/>
          <p:nvPr/>
        </p:nvGraphicFramePr>
        <p:xfrm>
          <a:off x="1847912" y="3365881"/>
          <a:ext cx="8128000" cy="1854250"/>
        </p:xfrm>
        <a:graphic>
          <a:graphicData uri="http://schemas.openxmlformats.org/drawingml/2006/table">
            <a:tbl>
              <a:tblPr firstRow="1" bandRow="1">
                <a:noFill/>
                <a:tableStyleId>{382D08AB-6973-4B40-873B-D6619E62269E}</a:tableStyleId>
              </a:tblPr>
              <a:tblGrid>
                <a:gridCol w="92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3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SL.NO.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NAME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USN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NO.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Basavaraj Ishwar Mujagoni 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02FE22BEC015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Diksha Dilip Nalawade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02FE22BEC025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03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Rahul Kundaragi 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02FE22BEC062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04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Preeti Anand Paschapuri 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02FE22BEC053</a:t>
                      </a:r>
                      <a:endParaRPr sz="1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51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b12293af1_0_305"/>
          <p:cNvSpPr txBox="1">
            <a:spLocks noGrp="1"/>
          </p:cNvSpPr>
          <p:nvPr>
            <p:ph type="title"/>
          </p:nvPr>
        </p:nvSpPr>
        <p:spPr>
          <a:xfrm>
            <a:off x="1193346" y="266927"/>
            <a:ext cx="10515600" cy="919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1">
                <a:latin typeface="Times New Roman"/>
                <a:ea typeface="Times New Roman"/>
                <a:cs typeface="Times New Roman"/>
                <a:sym typeface="Times New Roman"/>
              </a:rPr>
              <a:t>                          Gantt Chart</a:t>
            </a:r>
            <a:endParaRPr sz="4000" b="1"/>
          </a:p>
        </p:txBody>
      </p:sp>
      <p:sp>
        <p:nvSpPr>
          <p:cNvPr id="108" name="Google Shape;108;g31b12293af1_0_30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aphicFrame>
        <p:nvGraphicFramePr>
          <p:cNvPr id="109" name="Google Shape;109;g31b12293af1_0_305"/>
          <p:cNvGraphicFramePr/>
          <p:nvPr>
            <p:extLst>
              <p:ext uri="{D42A27DB-BD31-4B8C-83A1-F6EECF244321}">
                <p14:modId xmlns:p14="http://schemas.microsoft.com/office/powerpoint/2010/main" val="3336748949"/>
              </p:ext>
            </p:extLst>
          </p:nvPr>
        </p:nvGraphicFramePr>
        <p:xfrm>
          <a:off x="740228" y="922466"/>
          <a:ext cx="11087100" cy="5330303"/>
        </p:xfrm>
        <a:graphic>
          <a:graphicData uri="http://schemas.openxmlformats.org/drawingml/2006/table">
            <a:tbl>
              <a:tblPr firstRow="1" bandRow="1">
                <a:noFill/>
                <a:tableStyleId>{382D08AB-6973-4B40-873B-D6619E62269E}</a:tableStyleId>
              </a:tblPr>
              <a:tblGrid>
                <a:gridCol w="2231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2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3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22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355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351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4908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68829">
                  <a:extLst>
                    <a:ext uri="{9D8B030D-6E8A-4147-A177-3AD203B41FA5}">
                      <a16:colId xmlns:a16="http://schemas.microsoft.com/office/drawing/2014/main" val="1593418346"/>
                    </a:ext>
                  </a:extLst>
                </a:gridCol>
              </a:tblGrid>
              <a:tr h="68482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Phases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Week1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Week2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Week3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Week4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Week5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Week6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Week7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Week8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Week9</a:t>
                      </a: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tx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Week10</a:t>
                      </a:r>
                      <a:endParaRPr sz="1800" b="1" u="none" strike="noStrike" cap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Design</a:t>
                      </a: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✔"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✔"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209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Component Selection</a:t>
                      </a: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✔"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✔"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873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Hands-on Training with Tools</a:t>
                      </a: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✔"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✔"/>
                      </a:pPr>
                      <a:r>
                        <a:rPr lang="en-US" sz="18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749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Simulation Design</a:t>
                      </a:r>
                      <a:endParaRPr dirty="0"/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✔"/>
                      </a:pPr>
                      <a:r>
                        <a:rPr lang="en-US" sz="18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82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 Hardware Model</a:t>
                      </a: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✔"/>
                      </a:pPr>
                      <a:r>
                        <a:rPr lang="en-US" sz="18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✔"/>
                      </a:pPr>
                      <a:r>
                        <a:rPr lang="en-US" sz="18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None/>
                      </a:pP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482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 and debug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76200" marR="76200" marT="76200" marB="762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Noto Sans Symbols"/>
                        <a:buChar char="✔"/>
                      </a:pPr>
                      <a:r>
                        <a:rPr lang="en-US" sz="18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18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610488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b12293af1_0_312"/>
          <p:cNvSpPr txBox="1">
            <a:spLocks noGrp="1"/>
          </p:cNvSpPr>
          <p:nvPr>
            <p:ph type="title"/>
          </p:nvPr>
        </p:nvSpPr>
        <p:spPr>
          <a:xfrm>
            <a:off x="923925" y="-16827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40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WBS(</a:t>
            </a:r>
            <a:r>
              <a:rPr lang="en-US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</a:t>
            </a:r>
            <a:r>
              <a:rPr lang="en-US" sz="40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Breakdown Structure)</a:t>
            </a:r>
            <a:endParaRPr sz="4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g31b12293af1_0_312"/>
          <p:cNvSpPr txBox="1">
            <a:spLocks noGrp="1"/>
          </p:cNvSpPr>
          <p:nvPr>
            <p:ph type="body" idx="1"/>
          </p:nvPr>
        </p:nvSpPr>
        <p:spPr>
          <a:xfrm>
            <a:off x="752475" y="8731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800" b="1" i="0" u="none" strike="noStrike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Design and development of ECU system using CAN bus protocol for automotive applications</a:t>
            </a:r>
            <a:endParaRPr lang="en-US" sz="2800" b="1" i="0" u="none" strike="noStrike" cap="none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17" name="Google Shape;117;g31b12293af1_0_3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8" name="Google Shape;118;g31b12293af1_0_312"/>
          <p:cNvSpPr/>
          <p:nvPr/>
        </p:nvSpPr>
        <p:spPr>
          <a:xfrm>
            <a:off x="152400" y="2198825"/>
            <a:ext cx="2143200" cy="2897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2641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4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Deciding the type of ECU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Listing required Peripherals, i.e., in  Perception, CAN protocol and Actuation unit</a:t>
            </a:r>
          </a:p>
        </p:txBody>
      </p:sp>
      <p:sp>
        <p:nvSpPr>
          <p:cNvPr id="119" name="Google Shape;119;g31b12293af1_0_312"/>
          <p:cNvSpPr/>
          <p:nvPr/>
        </p:nvSpPr>
        <p:spPr>
          <a:xfrm>
            <a:off x="2650332" y="2207619"/>
            <a:ext cx="2143124" cy="289705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2641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Lidar/Camera for Obstacle detection using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 motor direction control for actuation 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module for CAN comm. between ECUs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for infotainment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0" name="Google Shape;120;g31b12293af1_0_312"/>
          <p:cNvSpPr/>
          <p:nvPr/>
        </p:nvSpPr>
        <p:spPr>
          <a:xfrm>
            <a:off x="7585923" y="2198821"/>
            <a:ext cx="2143122" cy="289705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2641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196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dirty="0">
                <a:solidFill>
                  <a:schemeClr val="dk1"/>
                </a:solidFill>
                <a:latin typeface="Times New Roman"/>
                <a:cs typeface="Times New Roman"/>
                <a:sym typeface="Times New Roman"/>
              </a:rPr>
              <a:t>Software simulation of the Total design using </a:t>
            </a:r>
            <a:endParaRPr dirty="0"/>
          </a:p>
        </p:txBody>
      </p:sp>
      <p:sp>
        <p:nvSpPr>
          <p:cNvPr id="121" name="Google Shape;121;g31b12293af1_0_312"/>
          <p:cNvSpPr/>
          <p:nvPr/>
        </p:nvSpPr>
        <p:spPr>
          <a:xfrm>
            <a:off x="9967914" y="2198822"/>
            <a:ext cx="2071685" cy="289705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2641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dirty="0"/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dirty="0"/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dirty="0"/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dirty="0"/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 module data is sent through CAN bus and direction control of motors and infotainment display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Google Shape;122;g31b12293af1_0_312"/>
          <p:cNvSpPr/>
          <p:nvPr/>
        </p:nvSpPr>
        <p:spPr>
          <a:xfrm>
            <a:off x="5110163" y="2198822"/>
            <a:ext cx="2143123" cy="289705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>
            <a:solidFill>
              <a:srgbClr val="2641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</a:pPr>
            <a:endParaRPr lang="en-US"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endParaRPr lang="en-US" sz="12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IDE for 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Perception ECU and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STM32 </a:t>
            </a:r>
            <a:r>
              <a:rPr lang="en-US" sz="12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Nucleo</a:t>
            </a:r>
            <a:r>
              <a:rPr lang="en-US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 Actuation ECU</a:t>
            </a:r>
          </a:p>
          <a:p>
            <a:pPr marL="285750" marR="0" lvl="0" indent="-2857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between devices using MCP2515 CAN transceiver module</a:t>
            </a:r>
            <a:endParaRPr sz="12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g31b12293af1_0_312"/>
          <p:cNvSpPr/>
          <p:nvPr/>
        </p:nvSpPr>
        <p:spPr>
          <a:xfrm>
            <a:off x="274725" y="2375799"/>
            <a:ext cx="1827000" cy="70500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45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Design</a:t>
            </a:r>
            <a:endParaRPr dirty="0"/>
          </a:p>
        </p:txBody>
      </p:sp>
      <p:sp>
        <p:nvSpPr>
          <p:cNvPr id="124" name="Google Shape;124;g31b12293af1_0_312"/>
          <p:cNvSpPr/>
          <p:nvPr/>
        </p:nvSpPr>
        <p:spPr>
          <a:xfrm>
            <a:off x="10090247" y="2388053"/>
            <a:ext cx="1827017" cy="772886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45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 Hardware model</a:t>
            </a:r>
            <a:endParaRPr dirty="0"/>
          </a:p>
        </p:txBody>
      </p:sp>
      <p:sp>
        <p:nvSpPr>
          <p:cNvPr id="125" name="Google Shape;125;g31b12293af1_0_312"/>
          <p:cNvSpPr/>
          <p:nvPr/>
        </p:nvSpPr>
        <p:spPr>
          <a:xfrm>
            <a:off x="7731025" y="2320018"/>
            <a:ext cx="1844577" cy="840921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45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Design</a:t>
            </a:r>
            <a:endParaRPr/>
          </a:p>
        </p:txBody>
      </p:sp>
      <p:sp>
        <p:nvSpPr>
          <p:cNvPr id="126" name="Google Shape;126;g31b12293af1_0_312"/>
          <p:cNvSpPr/>
          <p:nvPr/>
        </p:nvSpPr>
        <p:spPr>
          <a:xfrm>
            <a:off x="5237261" y="2375807"/>
            <a:ext cx="1827017" cy="785132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45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 on Training with tools</a:t>
            </a:r>
            <a:endParaRPr sz="1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g31b12293af1_0_312"/>
          <p:cNvSpPr/>
          <p:nvPr/>
        </p:nvSpPr>
        <p:spPr>
          <a:xfrm>
            <a:off x="2784722" y="2375807"/>
            <a:ext cx="1827017" cy="70485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25400" cap="flat" cmpd="sng">
            <a:solidFill>
              <a:srgbClr val="45454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 Selection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d634291885_0_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Input Specification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g2d634291885_0_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FEFBFE-39E5-FB9B-556E-810584AFDA83}"/>
              </a:ext>
            </a:extLst>
          </p:cNvPr>
          <p:cNvSpPr txBox="1"/>
          <p:nvPr/>
        </p:nvSpPr>
        <p:spPr>
          <a:xfrm>
            <a:off x="838200" y="1690825"/>
            <a:ext cx="106763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suitable Lidar module TF-Luna module is used for Obstacle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TF-Luna module is interfaced with ESP32 using Arduino IDE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data is then transmitted using MCP2515 CAN transceiver to the transceiver of output unit.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"/>
          <p:cNvSpPr txBox="1">
            <a:spLocks noGrp="1"/>
          </p:cNvSpPr>
          <p:nvPr>
            <p:ph type="ctrTitle"/>
          </p:nvPr>
        </p:nvSpPr>
        <p:spPr>
          <a:xfrm>
            <a:off x="1524000" y="419101"/>
            <a:ext cx="9144000" cy="809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br>
              <a:rPr lang="en-US" sz="4400" b="0"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0" i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Output specification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" name="Google Shape;143;p2"/>
          <p:cNvSpPr txBox="1">
            <a:spLocks noGrp="1"/>
          </p:cNvSpPr>
          <p:nvPr>
            <p:ph type="subTitle" idx="1"/>
          </p:nvPr>
        </p:nvSpPr>
        <p:spPr>
          <a:xfrm>
            <a:off x="838200" y="1439862"/>
            <a:ext cx="10802957" cy="470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365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data is received on the output side via the 2</a:t>
            </a:r>
            <a:r>
              <a:rPr lang="en-US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MCP2515 CAN Transceiver.</a:t>
            </a:r>
          </a:p>
          <a:p>
            <a:pPr marL="336550" lvl="0" indent="-2857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the Obstacle detected information the vehicle direction is controlled </a:t>
            </a:r>
          </a:p>
          <a:p>
            <a:pPr marL="336550" lvl="0" indent="-2857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information is display on the OLED display for infotainment services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"/>
          <p:cNvSpPr txBox="1">
            <a:spLocks noGrp="1"/>
          </p:cNvSpPr>
          <p:nvPr>
            <p:ph type="ctrTitle"/>
          </p:nvPr>
        </p:nvSpPr>
        <p:spPr>
          <a:xfrm>
            <a:off x="1524000" y="136525"/>
            <a:ext cx="9144000" cy="106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 sz="4400">
                <a:latin typeface="Times New Roman"/>
                <a:ea typeface="Times New Roman"/>
                <a:cs typeface="Times New Roman"/>
                <a:sym typeface="Times New Roman"/>
              </a:rPr>
              <a:t> Functional Block Diagram</a:t>
            </a:r>
            <a:endParaRPr sz="4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B6ADA9-0882-9664-90BB-89D790939BE3}"/>
              </a:ext>
            </a:extLst>
          </p:cNvPr>
          <p:cNvSpPr/>
          <p:nvPr/>
        </p:nvSpPr>
        <p:spPr>
          <a:xfrm>
            <a:off x="620488" y="3102423"/>
            <a:ext cx="1153886" cy="6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TF-Luna Obstacle Detection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FDFFC7-EE02-B6A5-C212-33CE358182F7}"/>
              </a:ext>
            </a:extLst>
          </p:cNvPr>
          <p:cNvSpPr/>
          <p:nvPr/>
        </p:nvSpPr>
        <p:spPr>
          <a:xfrm>
            <a:off x="2351317" y="3102422"/>
            <a:ext cx="1153886" cy="6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990C05-97D0-6AD9-9A31-7FC51ABD4385}"/>
              </a:ext>
            </a:extLst>
          </p:cNvPr>
          <p:cNvSpPr/>
          <p:nvPr/>
        </p:nvSpPr>
        <p:spPr>
          <a:xfrm>
            <a:off x="4193724" y="3102425"/>
            <a:ext cx="1153886" cy="6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MCP2515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transceiver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47D368-AD8C-9E5F-3B06-775B1A60AC56}"/>
              </a:ext>
            </a:extLst>
          </p:cNvPr>
          <p:cNvSpPr/>
          <p:nvPr/>
        </p:nvSpPr>
        <p:spPr>
          <a:xfrm>
            <a:off x="8958950" y="3102428"/>
            <a:ext cx="1153886" cy="6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STM32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Nucleo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AF1461-9A82-177C-6EEB-6355028137E6}"/>
              </a:ext>
            </a:extLst>
          </p:cNvPr>
          <p:cNvSpPr/>
          <p:nvPr/>
        </p:nvSpPr>
        <p:spPr>
          <a:xfrm>
            <a:off x="10352318" y="1896152"/>
            <a:ext cx="1153886" cy="6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Motors direction control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F133D1-4CC1-013B-5650-588566EDBFBD}"/>
              </a:ext>
            </a:extLst>
          </p:cNvPr>
          <p:cNvSpPr/>
          <p:nvPr/>
        </p:nvSpPr>
        <p:spPr>
          <a:xfrm>
            <a:off x="10297890" y="4319136"/>
            <a:ext cx="1262743" cy="6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Infotainment OLED display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36F529-EEB6-E36A-038C-842009BFC715}"/>
              </a:ext>
            </a:extLst>
          </p:cNvPr>
          <p:cNvSpPr/>
          <p:nvPr/>
        </p:nvSpPr>
        <p:spPr>
          <a:xfrm>
            <a:off x="7228121" y="3102421"/>
            <a:ext cx="1153886" cy="65314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MCP2515</a:t>
            </a: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transceiver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95E75F6-60E0-6D09-74E4-E88E50C00373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1774374" y="3428994"/>
            <a:ext cx="57694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65BD829-B48F-E987-900D-6E7CEFDC5F8A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505203" y="3428994"/>
            <a:ext cx="688521" cy="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3963B41-65CB-9814-998F-CA0884D39E96}"/>
              </a:ext>
            </a:extLst>
          </p:cNvPr>
          <p:cNvCxnSpPr>
            <a:cxnSpLocks/>
            <a:stCxn id="5" idx="3"/>
            <a:endCxn id="3" idx="1"/>
          </p:cNvCxnSpPr>
          <p:nvPr/>
        </p:nvCxnSpPr>
        <p:spPr>
          <a:xfrm flipV="1">
            <a:off x="5347610" y="3428993"/>
            <a:ext cx="1880511" cy="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809071B-2C18-92B9-8550-B6D0903854FB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8382007" y="3428993"/>
            <a:ext cx="576943" cy="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A5B88875-9B24-3F3E-CD6B-30067203F43E}"/>
              </a:ext>
            </a:extLst>
          </p:cNvPr>
          <p:cNvCxnSpPr>
            <a:cxnSpLocks/>
            <a:stCxn id="7" idx="3"/>
            <a:endCxn id="9" idx="0"/>
          </p:cNvCxnSpPr>
          <p:nvPr/>
        </p:nvCxnSpPr>
        <p:spPr>
          <a:xfrm>
            <a:off x="10112836" y="3429000"/>
            <a:ext cx="816426" cy="8901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C6587F23-7B11-728F-728C-0D05A85A660F}"/>
              </a:ext>
            </a:extLst>
          </p:cNvPr>
          <p:cNvCxnSpPr>
            <a:cxnSpLocks/>
            <a:stCxn id="7" idx="3"/>
            <a:endCxn id="8" idx="2"/>
          </p:cNvCxnSpPr>
          <p:nvPr/>
        </p:nvCxnSpPr>
        <p:spPr>
          <a:xfrm flipV="1">
            <a:off x="10112836" y="2549295"/>
            <a:ext cx="816425" cy="8797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3008880-5A75-5242-8ECA-8F55E6B3268F}"/>
              </a:ext>
            </a:extLst>
          </p:cNvPr>
          <p:cNvSpPr txBox="1"/>
          <p:nvPr/>
        </p:nvSpPr>
        <p:spPr>
          <a:xfrm>
            <a:off x="5770798" y="3121215"/>
            <a:ext cx="15484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BUS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634291885_0_21"/>
          <p:cNvSpPr txBox="1">
            <a:spLocks noGrp="1"/>
          </p:cNvSpPr>
          <p:nvPr>
            <p:ph type="title"/>
          </p:nvPr>
        </p:nvSpPr>
        <p:spPr>
          <a:xfrm>
            <a:off x="838200" y="-164264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>
                <a:latin typeface="Times New Roman"/>
                <a:ea typeface="Times New Roman"/>
                <a:cs typeface="Times New Roman"/>
                <a:sym typeface="Times New Roman"/>
              </a:rPr>
              <a:t>Software Simulation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" name="Google Shape;181;g2d634291885_0_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41DB79-64A3-B966-7BC2-B309EF613B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8682" y="760396"/>
            <a:ext cx="7969718" cy="53708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565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Dept. of ECE</a:t>
            </a:r>
            <a:endParaRPr/>
          </a:p>
        </p:txBody>
      </p:sp>
      <p:sp>
        <p:nvSpPr>
          <p:cNvPr id="189" name="Google Shape;18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Mini-Review2</Template>
  <TotalTime>227</TotalTime>
  <Words>357</Words>
  <Application>Microsoft Office PowerPoint</Application>
  <PresentationFormat>Widescreen</PresentationFormat>
  <Paragraphs>124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Noto Sans Symbols</vt:lpstr>
      <vt:lpstr>Times New Roman</vt:lpstr>
      <vt:lpstr>Office Theme</vt:lpstr>
      <vt:lpstr>PowerPoint Presentation</vt:lpstr>
      <vt:lpstr>                          Gantt Chart</vt:lpstr>
      <vt:lpstr>            WBS(Work Breakdown Structure)</vt:lpstr>
      <vt:lpstr>Input Specification</vt:lpstr>
      <vt:lpstr>  Output specification</vt:lpstr>
      <vt:lpstr> Functional Block Diagram</vt:lpstr>
      <vt:lpstr>Software Simulation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Preeti Paschapuri</dc:creator>
  <cp:lastModifiedBy>Preeti Paschapuri</cp:lastModifiedBy>
  <cp:revision>10</cp:revision>
  <dcterms:created xsi:type="dcterms:W3CDTF">2025-04-13T06:38:33Z</dcterms:created>
  <dcterms:modified xsi:type="dcterms:W3CDTF">2025-04-18T17:04:13Z</dcterms:modified>
</cp:coreProperties>
</file>